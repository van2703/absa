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3A"/>
          </a:solidFill>
          <a:ln w="12700">
            <a:solidFill>
              <a:srgbClr val="1624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256032"/>
            <a:ext cx="2788920" cy="2788920"/>
          </a:xfrm>
          <a:prstGeom prst="arc">
            <a:avLst/>
          </a:prstGeom>
          <a:solidFill>
            <a:srgbClr val="24405E">
              <a:alpha val="85000"/>
            </a:srgbClr>
          </a:solidFill>
          <a:ln w="12700">
            <a:solidFill>
              <a:srgbClr val="2440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4297680"/>
            <a:ext cx="2240280" cy="2240280"/>
          </a:xfrm>
          <a:prstGeom prst="arc">
            <a:avLst/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170432"/>
            <a:ext cx="65836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Aspect-Based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Sentiment Analysis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86384" y="2450592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8E3EF"/>
                </a:solidFill>
              </a:rPr>
              <a:t>Vietnamese Shopee Product Reviews using Traditional Machine Learning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3310128"/>
            <a:ext cx="1024128" cy="347472"/>
          </a:xfrm>
          <a:prstGeom prst="roundRect">
            <a:avLst>
              <a:gd name="adj" fmla="val 21053"/>
            </a:avLst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336042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TF-IDF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1975104" y="3310128"/>
            <a:ext cx="2084832" cy="347472"/>
          </a:xfrm>
          <a:prstGeom prst="roundRect">
            <a:avLst>
              <a:gd name="adj" fmla="val 21053"/>
            </a:avLst>
          </a:prstGeom>
          <a:solidFill>
            <a:srgbClr val="2F7EAE"/>
          </a:solidFill>
          <a:ln w="12700">
            <a:solidFill>
              <a:srgbClr val="2F7EA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48256" y="33604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Logistic Regression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224528" y="3310128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336042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6243A"/>
                </a:solidFill>
              </a:rPr>
              <a:t>Linear SVM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86384" y="4700016"/>
            <a:ext cx="20574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4700016"/>
            <a:ext cx="73152" cy="950976"/>
          </a:xfrm>
          <a:prstGeom prst="rect">
            <a:avLst/>
          </a:prstGeom>
          <a:solidFill>
            <a:srgbClr val="4FB3BF"/>
          </a:solidFill>
          <a:ln w="12700">
            <a:solidFill>
              <a:srgbClr val="4FB3B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901184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43A"/>
                </a:solidFill>
              </a:rPr>
              <a:t>2,466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5840" y="5285232"/>
            <a:ext cx="1746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Shopee review comments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72384" y="4700016"/>
            <a:ext cx="20574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72384" y="4700016"/>
            <a:ext cx="73152" cy="950976"/>
          </a:xfrm>
          <a:prstGeom prst="rect">
            <a:avLst/>
          </a:prstGeom>
          <a:solidFill>
            <a:srgbClr val="6AA6D6"/>
          </a:solidFill>
          <a:ln w="12700">
            <a:solidFill>
              <a:srgbClr val="6AA6D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4901184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43A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291840" y="5285232"/>
            <a:ext cx="1746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Aspect classifiers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58384" y="4700016"/>
            <a:ext cx="20574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58384" y="4700016"/>
            <a:ext cx="73152" cy="9509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4901184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43A"/>
                </a:solidFill>
              </a:rPr>
              <a:t>0.7964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577840" y="5285232"/>
            <a:ext cx="1746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LR avg. Macro F1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86384" y="60167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7E7"/>
                </a:solidFill>
              </a:rPr>
              <a:t>From one review → four aspect-level sentiment labels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9260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framing: one review, multiple opinions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Traditional sentiment analysis loses aspect-specific information; ABSA keeps it.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85216" y="1024128"/>
            <a:ext cx="10972800" cy="0"/>
          </a:xfrm>
          <a:prstGeom prst="line">
            <a:avLst/>
          </a:prstGeom>
          <a:noFill/>
          <a:ln w="12700">
            <a:solidFill>
              <a:srgbClr val="D3D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1"/>
                </a:solidFill>
              </a:rPr>
              <a:t>ABSA Vietnamese Shopee Reviews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491"/>
                </a:solidFill>
              </a:rPr>
              <a:t>02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1792" y="1335024"/>
            <a:ext cx="3200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review example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" y="1755648"/>
            <a:ext cx="3886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048256"/>
            <a:ext cx="340156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6243A"/>
                </a:solidFill>
              </a:rPr>
              <a:t>“Giao hàng nhanh, đóng gói cẩn thận nhưng sản phẩm hơi mỏng so với giá.”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91456" y="2148840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7C86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532120" y="1335024"/>
            <a:ext cx="36576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 labels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532120" y="1755648"/>
            <a:ext cx="512064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05856" y="1865376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Product quality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07424" y="1837944"/>
            <a:ext cx="1170432" cy="329184"/>
          </a:xfrm>
          <a:prstGeom prst="roundRect">
            <a:avLst>
              <a:gd name="adj" fmla="val 22222"/>
            </a:avLst>
          </a:prstGeom>
          <a:solidFill>
            <a:srgbClr val="C23B3B"/>
          </a:solidFill>
          <a:ln w="12700">
            <a:solidFill>
              <a:srgbClr val="C23B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0576" y="188823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negative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532120" y="2450592"/>
            <a:ext cx="512064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05856" y="2560320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Packaging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07424" y="2532888"/>
            <a:ext cx="1170432" cy="329184"/>
          </a:xfrm>
          <a:prstGeom prst="roundRect">
            <a:avLst>
              <a:gd name="adj" fmla="val 22222"/>
            </a:avLst>
          </a:prstGeom>
          <a:solidFill>
            <a:srgbClr val="2F8F3A"/>
          </a:solidFill>
          <a:ln w="12700">
            <a:solidFill>
              <a:srgbClr val="2F8F3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0576" y="258318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positive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532120" y="3145536"/>
            <a:ext cx="512064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05856" y="3255264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Delivery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07424" y="3227832"/>
            <a:ext cx="1170432" cy="329184"/>
          </a:xfrm>
          <a:prstGeom prst="roundRect">
            <a:avLst>
              <a:gd name="adj" fmla="val 22222"/>
            </a:avLst>
          </a:prstGeom>
          <a:solidFill>
            <a:srgbClr val="2F8F3A"/>
          </a:solidFill>
          <a:ln w="12700">
            <a:solidFill>
              <a:srgbClr val="2F8F3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0576" y="327812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positive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532120" y="3840480"/>
            <a:ext cx="512064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05856" y="3950208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Price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107424" y="3922776"/>
            <a:ext cx="1170432" cy="329184"/>
          </a:xfrm>
          <a:prstGeom prst="roundRect">
            <a:avLst>
              <a:gd name="adj" fmla="val 22222"/>
            </a:avLst>
          </a:prstGeom>
          <a:solidFill>
            <a:srgbClr val="C23B3B"/>
          </a:solidFill>
          <a:ln w="12700">
            <a:solidFill>
              <a:srgbClr val="C23B3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0576" y="39730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negative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621792" y="4590288"/>
            <a:ext cx="29260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13232" y="4992624"/>
            <a:ext cx="4617720" cy="9509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The same comment can mention several aspects.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Each aspect may carry a different sentiment polarity.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Aspect-level labels are more useful than one overall sentiment.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5797296" y="4590288"/>
            <a:ext cx="29260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Modeling decision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888736" y="4992624"/>
            <a:ext cx="4754880" cy="9509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Train four separate 3-class classifiers.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Use the same cleaned comment and TF-IDF vector for each classifier.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Evaluate per aspect and average across aspects.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9260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and labeling scheme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Four independent aspect-level labels are attached to each review.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85216" y="1024128"/>
            <a:ext cx="10972800" cy="0"/>
          </a:xfrm>
          <a:prstGeom prst="line">
            <a:avLst/>
          </a:prstGeom>
          <a:noFill/>
          <a:ln w="12700">
            <a:solidFill>
              <a:srgbClr val="D3D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1"/>
                </a:solidFill>
              </a:rPr>
              <a:t>ABSA Vietnamese Shopee Reviews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491"/>
                </a:solidFill>
              </a:rPr>
              <a:t>03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1792" y="132588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325880"/>
            <a:ext cx="73152" cy="9144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52704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43A"/>
                </a:solidFill>
              </a:rPr>
              <a:t>2,466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1248" y="191109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Rows / customer reviews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62656" y="132588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62656" y="1325880"/>
            <a:ext cx="73152" cy="914400"/>
          </a:xfrm>
          <a:prstGeom prst="rect">
            <a:avLst/>
          </a:prstGeom>
          <a:solidFill>
            <a:srgbClr val="2F7EAE"/>
          </a:solidFill>
          <a:ln w="12700">
            <a:solidFill>
              <a:srgbClr val="2F7EA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152704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43A"/>
                </a:solidFill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82112" y="191109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Aspect label columns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03520" y="132588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1325880"/>
            <a:ext cx="73152" cy="914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22976" y="152704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43A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22976" y="191109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Sentiment classes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644384" y="132588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44384" y="1325880"/>
            <a:ext cx="73152" cy="914400"/>
          </a:xfrm>
          <a:prstGeom prst="rect">
            <a:avLst/>
          </a:prstGeom>
          <a:solidFill>
            <a:srgbClr val="2F8F3A"/>
          </a:solidFill>
          <a:ln w="12700">
            <a:solidFill>
              <a:srgbClr val="2F8F3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152704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43A"/>
                </a:solidFill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863840" y="191109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Labels standardized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8368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 columns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8368" y="3255264"/>
            <a:ext cx="1508760" cy="424282"/>
          </a:xfrm>
          <a:prstGeom prst="rect">
            <a:avLst/>
          </a:prstGeom>
          <a:solidFill>
            <a:srgbClr val="16243A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" y="3305556"/>
            <a:ext cx="1435608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Column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67128" y="3255264"/>
            <a:ext cx="2286000" cy="424282"/>
          </a:xfrm>
          <a:prstGeom prst="rect">
            <a:avLst/>
          </a:prstGeom>
          <a:solidFill>
            <a:srgbClr val="16243A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03704" y="3305556"/>
            <a:ext cx="2212848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Meaning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" y="3679546"/>
            <a:ext cx="1508760" cy="424282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" y="3729838"/>
            <a:ext cx="1435608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chat_luong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67128" y="3679546"/>
            <a:ext cx="2286000" cy="424282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03704" y="3729838"/>
            <a:ext cx="2212848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Product quality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8368" y="4103827"/>
            <a:ext cx="1508760" cy="424282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" y="4154119"/>
            <a:ext cx="1435608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dong_goi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67128" y="4103827"/>
            <a:ext cx="2286000" cy="424282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03704" y="4154119"/>
            <a:ext cx="2212848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Packaging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8368" y="4528109"/>
            <a:ext cx="1508760" cy="424282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" y="4578401"/>
            <a:ext cx="1435608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van_chuyen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167128" y="4528109"/>
            <a:ext cx="2286000" cy="424282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03704" y="4578401"/>
            <a:ext cx="2212848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Delivery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8368" y="4952390"/>
            <a:ext cx="1508760" cy="424282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944" y="5002682"/>
            <a:ext cx="1435608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gia_ca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167128" y="4952390"/>
            <a:ext cx="2286000" cy="424282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03704" y="5002682"/>
            <a:ext cx="2212848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Price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82896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Label meaning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882896" y="3255264"/>
            <a:ext cx="1143000" cy="425196"/>
          </a:xfrm>
          <a:prstGeom prst="rect">
            <a:avLst/>
          </a:prstGeom>
          <a:solidFill>
            <a:srgbClr val="16243A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9472" y="3305556"/>
            <a:ext cx="106984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Label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25896" y="3255264"/>
            <a:ext cx="5111496" cy="425196"/>
          </a:xfrm>
          <a:prstGeom prst="rect">
            <a:avLst/>
          </a:prstGeom>
          <a:solidFill>
            <a:srgbClr val="16243A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3305556"/>
            <a:ext cx="503834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Interpretation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82896" y="3680460"/>
            <a:ext cx="1143000" cy="425196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19472" y="3730752"/>
            <a:ext cx="106984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positive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025896" y="3680460"/>
            <a:ext cx="5111496" cy="425196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62472" y="3730752"/>
            <a:ext cx="503834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Satisfaction toward the aspect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82896" y="4105656"/>
            <a:ext cx="1143000" cy="425196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19472" y="4155948"/>
            <a:ext cx="106984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negative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025896" y="4105656"/>
            <a:ext cx="5111496" cy="425196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62472" y="4155948"/>
            <a:ext cx="503834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Complaint or dissatisfaction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882896" y="4530852"/>
            <a:ext cx="1143000" cy="425196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19472" y="4581144"/>
            <a:ext cx="106984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neutral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025896" y="4530852"/>
            <a:ext cx="5111496" cy="425196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62472" y="4581144"/>
            <a:ext cx="503834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Aspect not clearly mentioned or sentiment unclear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983480" y="5321808"/>
            <a:ext cx="59893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243A"/>
                </a:solidFill>
              </a:rPr>
              <a:t>Key design: labels are assigned independently, so one review can be positive for delivery but negative for price or quality.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9260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Preprocessing and feature extraction pipeline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The pipeline reduces informal review noise and converts Vietnamese text into sparse numerical features.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85216" y="1024128"/>
            <a:ext cx="10972800" cy="0"/>
          </a:xfrm>
          <a:prstGeom prst="line">
            <a:avLst/>
          </a:prstGeom>
          <a:noFill/>
          <a:ln w="12700">
            <a:solidFill>
              <a:srgbClr val="D3D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1"/>
                </a:solidFill>
              </a:rPr>
              <a:t>ABSA Vietnamese Shopee Reviews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491"/>
                </a:solidFill>
              </a:rPr>
              <a:t>04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865376"/>
            <a:ext cx="1664208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057400"/>
            <a:ext cx="138988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43A"/>
                </a:solidFill>
              </a:rPr>
              <a:t>Raw comment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8096" y="2395728"/>
            <a:ext cx="144475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Shopee text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2377440" y="216712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871216" y="1865376"/>
            <a:ext cx="1664208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08376" y="2057400"/>
            <a:ext cx="138988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43A"/>
                </a:solidFill>
              </a:rPr>
              <a:t>Clean text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80944" y="2395728"/>
            <a:ext cx="144475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lowercase, URLs, punctuation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4590288" y="216712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84064" y="1865376"/>
            <a:ext cx="1664208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21224" y="2057400"/>
            <a:ext cx="138988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43A"/>
                </a:solidFill>
              </a:rPr>
              <a:t>Normalize Vietnamese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93792" y="2395728"/>
            <a:ext cx="144475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teencode + repeated chars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6803136" y="216712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296912" y="1865376"/>
            <a:ext cx="1664208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34072" y="2057400"/>
            <a:ext cx="138988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43A"/>
                </a:solidFill>
              </a:rPr>
              <a:t>TF-IDF vector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06640" y="2395728"/>
            <a:ext cx="144475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unigrams + bigrams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9015984" y="216712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509760" y="1865376"/>
            <a:ext cx="1664208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46920" y="2057400"/>
            <a:ext cx="138988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43A"/>
                </a:solidFill>
              </a:rPr>
              <a:t>Four classifiers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619488" y="2395728"/>
            <a:ext cx="144475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one per aspect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713232" y="3657600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Preprocessing choices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9808" y="4096512"/>
            <a:ext cx="5257800" cy="1481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• Lowercasing, URL removal, punctuation normalization, whitespace normalization.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• Repeated character and repeated punctuation normalization.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• Vietnamese teencode normalization: “ko/k/khum” → “không”; “sp” → “sản phẩm”.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• Negation words are preserved because they change sentiment polarity.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6419088" y="3657600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TF-IDF configuration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46520" y="4096512"/>
            <a:ext cx="1554480" cy="338328"/>
          </a:xfrm>
          <a:prstGeom prst="rect">
            <a:avLst/>
          </a:prstGeom>
          <a:solidFill>
            <a:srgbClr val="16243A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83096" y="4146804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Item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8001000" y="4096512"/>
            <a:ext cx="2944368" cy="338328"/>
          </a:xfrm>
          <a:prstGeom prst="rect">
            <a:avLst/>
          </a:prstGeom>
          <a:solidFill>
            <a:srgbClr val="16243A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37576" y="4146804"/>
            <a:ext cx="2871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Setting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446520" y="4434840"/>
            <a:ext cx="155448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83096" y="4485132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</a:rPr>
              <a:t>Samples fitted on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8001000" y="4434840"/>
            <a:ext cx="2944368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37576" y="4485132"/>
            <a:ext cx="2871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</a:rPr>
              <a:t>1,972 training comments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6446520" y="4773168"/>
            <a:ext cx="155448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83096" y="4823460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</a:rPr>
              <a:t>N-gram range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8001000" y="4773168"/>
            <a:ext cx="2944368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37576" y="4823460"/>
            <a:ext cx="2871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</a:rPr>
              <a:t>unigram + bigram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6446520" y="5111496"/>
            <a:ext cx="155448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83096" y="516178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</a:rPr>
              <a:t>min_df / max_df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8001000" y="5111496"/>
            <a:ext cx="2944368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37576" y="5161788"/>
            <a:ext cx="2871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</a:rPr>
              <a:t>2 / 0.95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6446520" y="5449824"/>
            <a:ext cx="155448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83096" y="5500116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</a:rPr>
              <a:t>Final features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8001000" y="5449824"/>
            <a:ext cx="2944368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37576" y="5500116"/>
            <a:ext cx="2871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</a:rPr>
              <a:t>3,084 TF-IDF dimensions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9260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imbalance is the central data challenge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Price and delivery are dominated by neutral labels, while product quality is dominated by negative labels.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85216" y="1024128"/>
            <a:ext cx="10972800" cy="0"/>
          </a:xfrm>
          <a:prstGeom prst="line">
            <a:avLst/>
          </a:prstGeom>
          <a:noFill/>
          <a:ln w="12700">
            <a:solidFill>
              <a:srgbClr val="D3D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1"/>
                </a:solidFill>
              </a:rPr>
              <a:t>ABSA Vietnamese Shopee Reviews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491"/>
                </a:solidFill>
              </a:rPr>
              <a:t>05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1792" y="1298448"/>
            <a:ext cx="5321808" cy="4041648"/>
          </a:xfrm>
          <a:prstGeom prst="roundRect">
            <a:avLst>
              <a:gd name="adj" fmla="val 113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pic>
        <p:nvPicPr>
          <p:cNvPr id="10" name="Image 0" descr="/mnt/data/label_distribution_count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767632"/>
            <a:ext cx="5175504" cy="310328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54496" y="1298448"/>
            <a:ext cx="5321808" cy="4041648"/>
          </a:xfrm>
          <a:prstGeom prst="roundRect">
            <a:avLst>
              <a:gd name="adj" fmla="val 113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pic>
        <p:nvPicPr>
          <p:cNvPr id="12" name="Image 1" descr="/mnt/data/label_distribution_ratio(1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767632"/>
            <a:ext cx="5175504" cy="310328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43A"/>
                </a:solidFill>
              </a:rPr>
              <a:t>Interpretation: Macro F1 is necessary because accuracy would be inflated by majority classes, especially neutral labels in gia_ca and van_chuyen.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9260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model: Logistic Regression as four interpretable classifiers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Each aspect is trained separately but uses the same TF-IDF representation.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85216" y="1024128"/>
            <a:ext cx="10972800" cy="0"/>
          </a:xfrm>
          <a:prstGeom prst="line">
            <a:avLst/>
          </a:prstGeom>
          <a:noFill/>
          <a:ln w="12700">
            <a:solidFill>
              <a:srgbClr val="D3D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1"/>
                </a:solidFill>
              </a:rPr>
              <a:t>ABSA Vietnamese Shopee Reviews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491"/>
                </a:solidFill>
              </a:rPr>
              <a:t>06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1353312"/>
            <a:ext cx="23774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" y="1883664"/>
            <a:ext cx="2084832" cy="914400"/>
          </a:xfrm>
          <a:prstGeom prst="roundRect">
            <a:avLst>
              <a:gd name="adj" fmla="val 6000"/>
            </a:avLst>
          </a:prstGeom>
          <a:solidFill>
            <a:srgbClr val="16243A"/>
          </a:solidFill>
          <a:ln w="12700">
            <a:solidFill>
              <a:srgbClr val="16243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112264"/>
            <a:ext cx="16642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Cleaned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99232" y="2176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657600" y="1883664"/>
            <a:ext cx="2084832" cy="9144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77056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TF-IDF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3,084 features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25312" y="2176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565392" y="1389888"/>
            <a:ext cx="23774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39128" y="1508760"/>
            <a:ext cx="202996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243A"/>
                </a:solidFill>
              </a:rPr>
              <a:t>chat_luong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9107424" y="147218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86"/>
                </a:solidFill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564624" y="1463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2F7EAE"/>
          </a:solidFill>
          <a:ln w="12700">
            <a:solidFill>
              <a:srgbClr val="2F7EA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37776" y="151333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pos / neg / neu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565392" y="2075688"/>
            <a:ext cx="23774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9128" y="2194560"/>
            <a:ext cx="202996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243A"/>
                </a:solidFill>
              </a:rPr>
              <a:t>dong_goi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9107424" y="215798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86"/>
                </a:solidFill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564624" y="21488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2F8F3A"/>
          </a:solidFill>
          <a:ln w="12700">
            <a:solidFill>
              <a:srgbClr val="2F8F3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37776" y="219913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pos / neg / neu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565392" y="2761488"/>
            <a:ext cx="23774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39128" y="2880360"/>
            <a:ext cx="202996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243A"/>
                </a:solidFill>
              </a:rPr>
              <a:t>van_chuyen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9107424" y="284378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86"/>
                </a:solidFill>
              </a:rPr>
              <a:t>→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564624" y="28346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2F7EAE"/>
          </a:solidFill>
          <a:ln w="12700">
            <a:solidFill>
              <a:srgbClr val="2F7EA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37776" y="288493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pos / neg / neu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6565392" y="3447288"/>
            <a:ext cx="23774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39128" y="3566160"/>
            <a:ext cx="202996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243A"/>
                </a:solidFill>
              </a:rPr>
              <a:t>gia_ca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9107424" y="352958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86"/>
                </a:solidFill>
              </a:rPr>
              <a:t>→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564624" y="35204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2F8F3A"/>
          </a:solidFill>
          <a:ln w="12700">
            <a:solidFill>
              <a:srgbClr val="2F8F3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37776" y="357073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pos / neg / neu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713232" y="4059936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Logistic Regression?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86384" y="4498848"/>
            <a:ext cx="484632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Strong baseline for sparse TF-IDF text features.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Efficient for small-to-medium datasets.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Feature weights are useful for interpretation.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class_weight="balanced" reduces majority-class dominance.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6446520" y="4059936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evaluation focus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519672" y="4498848"/>
            <a:ext cx="457200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Accuracy, precision, recall, Macro F1, Weighted F1.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Macro F1 is the primary metric under imbalance.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Confusion matrices are used for class-wise error analysis.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9260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Logistic Regression performance by aspect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Packaging performs best; price is hardest due to extreme minority-class scarcity.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85216" y="1024128"/>
            <a:ext cx="10972800" cy="0"/>
          </a:xfrm>
          <a:prstGeom prst="line">
            <a:avLst/>
          </a:prstGeom>
          <a:noFill/>
          <a:ln w="12700">
            <a:solidFill>
              <a:srgbClr val="D3D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1"/>
                </a:solidFill>
              </a:rPr>
              <a:t>ABSA Vietnamese Shopee Reviews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491"/>
                </a:solidFill>
              </a:rPr>
              <a:t>07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49808" y="1417320"/>
            <a:ext cx="1965960" cy="471830"/>
          </a:xfrm>
          <a:prstGeom prst="rect">
            <a:avLst/>
          </a:prstGeom>
          <a:solidFill>
            <a:srgbClr val="16243A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467612"/>
            <a:ext cx="189280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Aspect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15768" y="1417320"/>
            <a:ext cx="1234440" cy="471830"/>
          </a:xfrm>
          <a:prstGeom prst="rect">
            <a:avLst/>
          </a:prstGeom>
          <a:solidFill>
            <a:srgbClr val="16243A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52344" y="1467612"/>
            <a:ext cx="116128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Accuracy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50208" y="1417320"/>
            <a:ext cx="1234440" cy="471830"/>
          </a:xfrm>
          <a:prstGeom prst="rect">
            <a:avLst/>
          </a:prstGeom>
          <a:solidFill>
            <a:srgbClr val="16243A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86784" y="1467612"/>
            <a:ext cx="116128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Macro F1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84648" y="1417320"/>
            <a:ext cx="1234440" cy="471830"/>
          </a:xfrm>
          <a:prstGeom prst="rect">
            <a:avLst/>
          </a:prstGeom>
          <a:solidFill>
            <a:srgbClr val="16243A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21224" y="1467612"/>
            <a:ext cx="116128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Weighted F1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9808" y="1889150"/>
            <a:ext cx="1965960" cy="471830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1939442"/>
            <a:ext cx="189280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chat_luong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15768" y="1889150"/>
            <a:ext cx="1234440" cy="471830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52344" y="1939442"/>
            <a:ext cx="116128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0.8725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950208" y="1889150"/>
            <a:ext cx="1234440" cy="471830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86784" y="1939442"/>
            <a:ext cx="116128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0.7813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84648" y="1889150"/>
            <a:ext cx="1234440" cy="471830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1224" y="1939442"/>
            <a:ext cx="116128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0.8754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9808" y="2360981"/>
            <a:ext cx="1965960" cy="471830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2411273"/>
            <a:ext cx="189280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dong_goi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15768" y="2360981"/>
            <a:ext cx="1234440" cy="471830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52344" y="2411273"/>
            <a:ext cx="116128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0.8846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950208" y="2360981"/>
            <a:ext cx="1234440" cy="471830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86784" y="2411273"/>
            <a:ext cx="116128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0.8435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84648" y="2360981"/>
            <a:ext cx="1234440" cy="471830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21224" y="2411273"/>
            <a:ext cx="116128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0.8847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9808" y="2832811"/>
            <a:ext cx="1965960" cy="471830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" y="2883103"/>
            <a:ext cx="189280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van_chuyen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15768" y="2832811"/>
            <a:ext cx="1234440" cy="471830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52344" y="2883103"/>
            <a:ext cx="116128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0.9575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50208" y="2832811"/>
            <a:ext cx="1234440" cy="471830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86784" y="2883103"/>
            <a:ext cx="116128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0.8058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184648" y="2832811"/>
            <a:ext cx="1234440" cy="471830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21224" y="2883103"/>
            <a:ext cx="116128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0.9640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49808" y="3304642"/>
            <a:ext cx="1965960" cy="471830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6384" y="3354934"/>
            <a:ext cx="189280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gia_ca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15768" y="3304642"/>
            <a:ext cx="1234440" cy="471830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52344" y="3354934"/>
            <a:ext cx="116128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0.9555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950208" y="3304642"/>
            <a:ext cx="1234440" cy="471830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86784" y="3354934"/>
            <a:ext cx="116128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0.7552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184648" y="3304642"/>
            <a:ext cx="1234440" cy="471830"/>
          </a:xfrm>
          <a:prstGeom prst="rect">
            <a:avLst/>
          </a:prstGeom>
          <a:solidFill>
            <a:srgbClr val="FFFFFF"/>
          </a:solidFill>
          <a:ln w="8255">
            <a:solidFill>
              <a:srgbClr val="D9E1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21224" y="3354934"/>
            <a:ext cx="116128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0.9546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03136" y="1444752"/>
            <a:ext cx="2926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readings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876288" y="1901952"/>
            <a:ext cx="4297680" cy="1773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Best Macro F1: dong_goi = 0.8435.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Lowest Macro F1: gia_ca = 0.7552.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High accuracy on delivery and price mostly reflects many neutral samples.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Macro F1 reveals minority-class difficulty better than accuracy.</a:t>
            </a:r>
            <a:endParaRPr lang="en-US" sz="1120" dirty="0"/>
          </a:p>
        </p:txBody>
      </p:sp>
      <p:sp>
        <p:nvSpPr>
          <p:cNvPr id="51" name="Shape 49"/>
          <p:cNvSpPr/>
          <p:nvPr/>
        </p:nvSpPr>
        <p:spPr>
          <a:xfrm>
            <a:off x="749808" y="4553712"/>
            <a:ext cx="10424160" cy="658368"/>
          </a:xfrm>
          <a:prstGeom prst="roundRect">
            <a:avLst>
              <a:gd name="adj" fmla="val 8333"/>
            </a:avLst>
          </a:prstGeom>
          <a:solidFill>
            <a:srgbClr val="EAF5F6"/>
          </a:solidFill>
          <a:ln w="12700">
            <a:solidFill>
              <a:srgbClr val="C7E3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" y="4736592"/>
            <a:ext cx="99212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A"/>
                </a:solidFill>
              </a:rPr>
              <a:t>Takeaway: Logistic Regression is competitive and interpretable, but minority classes remain fragile when labels are strongly imbalanced.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9260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Confusion matrix inspection: what the model gets right and wrong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Most classes are learned reasonably well, but small classes create unstable performance.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85216" y="1024128"/>
            <a:ext cx="10972800" cy="0"/>
          </a:xfrm>
          <a:prstGeom prst="line">
            <a:avLst/>
          </a:prstGeom>
          <a:noFill/>
          <a:ln w="12700">
            <a:solidFill>
              <a:srgbClr val="D3D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1"/>
                </a:solidFill>
              </a:rPr>
              <a:t>ABSA Vietnamese Shopee Reviews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491"/>
                </a:solidFill>
              </a:rPr>
              <a:t>08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03504" y="1225296"/>
            <a:ext cx="2788920" cy="2212848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pic>
        <p:nvPicPr>
          <p:cNvPr id="10" name="Image 0" descr="/mnt/data/lr_chat_luong_confusion_matrix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321" y="1298448"/>
            <a:ext cx="2391287" cy="206654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566160" y="1225296"/>
            <a:ext cx="2788920" cy="2212848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pic>
        <p:nvPicPr>
          <p:cNvPr id="12" name="Image 1" descr="/mnt/data/lr_dong_goi_confusion_matrix(1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977" y="1298448"/>
            <a:ext cx="2391287" cy="20665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28816" y="1225296"/>
            <a:ext cx="2788920" cy="2212848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pic>
        <p:nvPicPr>
          <p:cNvPr id="14" name="Image 2" descr="/mnt/data/lr_van_chuyen_confusion_matrix(1)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633" y="1298448"/>
            <a:ext cx="2391287" cy="206654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491472" y="1225296"/>
            <a:ext cx="2331720" cy="2212848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pic>
        <p:nvPicPr>
          <p:cNvPr id="16" name="Image 3" descr="/mnt/data/lr_gia_ca_confusion_matrix(1)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4" y="1387404"/>
            <a:ext cx="2185416" cy="188863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3232" y="3931920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Class-wise observations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86384" y="4370832"/>
            <a:ext cx="10332720" cy="126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chat_luong: negative is learned strongly, but neutral is harder.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dong_goi: neutral is dominant but positive/negative remain usable.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van_chuyen: negative has only 8 test samples, so estimates are unstable.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gia_ca: negative has only 11 test samples and is the hardest class.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9260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comparison: linear models fit TF-IDF best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Linear SVM achieves the strongest average Macro F1; Logistic Regression remains close and more interpretable.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85216" y="1024128"/>
            <a:ext cx="10972800" cy="0"/>
          </a:xfrm>
          <a:prstGeom prst="line">
            <a:avLst/>
          </a:prstGeom>
          <a:noFill/>
          <a:ln w="12700">
            <a:solidFill>
              <a:srgbClr val="D3D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1"/>
                </a:solidFill>
              </a:rPr>
              <a:t>ABSA Vietnamese Shopee Reviews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491"/>
                </a:solidFill>
              </a:rPr>
              <a:t>09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1792" y="1243584"/>
            <a:ext cx="5212080" cy="3977640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pic>
        <p:nvPicPr>
          <p:cNvPr id="10" name="Image 0" descr="/mnt/data/model_comparison_macro_f1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713661"/>
            <a:ext cx="5065776" cy="303748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26480" y="1243584"/>
            <a:ext cx="5440680" cy="3977640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pic>
        <p:nvPicPr>
          <p:cNvPr id="12" name="Image 1" descr="/mnt/data/model_comparison_macro_f1_by_aspect(1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908810"/>
            <a:ext cx="5294376" cy="26471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" y="5596128"/>
            <a:ext cx="103327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A"/>
                </a:solidFill>
              </a:rPr>
              <a:t>Linear SVM: 0.8200 average Macro F1  |  Logistic Regression: 0.7964  |  Gap: 0.0236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9260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analysis: the largest problem is unclear aspect mention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Inspection of incorrect predictions explains limitations beyond aggregate metrics.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85216" y="1024128"/>
            <a:ext cx="10972800" cy="0"/>
          </a:xfrm>
          <a:prstGeom prst="line">
            <a:avLst/>
          </a:prstGeom>
          <a:noFill/>
          <a:ln w="12700">
            <a:solidFill>
              <a:srgbClr val="D3D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1"/>
                </a:solidFill>
              </a:rPr>
              <a:t>ABSA Vietnamese Shopee Reviews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491"/>
                </a:solidFill>
              </a:rPr>
              <a:t>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1298448"/>
            <a:ext cx="6126480" cy="434340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pic>
        <p:nvPicPr>
          <p:cNvPr id="10" name="Image 0" descr="/mnt/data/error_reason_distribution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77263"/>
            <a:ext cx="5980176" cy="358577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132320" y="1335024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error sources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205472" y="1792224"/>
            <a:ext cx="406908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Aspect not clearly mentioned: 84 errors (51.53%).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Negative class too small: 23 errors (14.11%).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Ambiguity between positive and neutral: 20 errors (12.27%).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Multiple aspects in one sentence can leak sentiment across classifiers.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Very short comments do not provide enough aspect evidence.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7150608" y="4736592"/>
            <a:ext cx="3968496" cy="713232"/>
          </a:xfrm>
          <a:prstGeom prst="roundRect">
            <a:avLst>
              <a:gd name="adj" fmla="val 7692"/>
            </a:avLst>
          </a:prstGeom>
          <a:solidFill>
            <a:srgbClr val="FFF3E5"/>
          </a:solidFill>
          <a:ln w="12700">
            <a:solidFill>
              <a:srgbClr val="F2C1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24928" y="4956048"/>
            <a:ext cx="34015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43A"/>
                </a:solidFill>
              </a:rPr>
              <a:t>Most errors come from task ambiguity, not only model weakness.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9260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model decision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The best predictive model and the final interpretable model are intentionally separated.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85216" y="1024128"/>
            <a:ext cx="10972800" cy="0"/>
          </a:xfrm>
          <a:prstGeom prst="line">
            <a:avLst/>
          </a:prstGeom>
          <a:noFill/>
          <a:ln w="12700">
            <a:solidFill>
              <a:srgbClr val="D3D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1"/>
                </a:solidFill>
              </a:rPr>
              <a:t>ABSA Vietnamese Shopee Reviews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491"/>
                </a:solidFill>
              </a:rPr>
              <a:t>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1444752"/>
            <a:ext cx="32918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Strongest predictive model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1956816"/>
            <a:ext cx="44805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2331720"/>
            <a:ext cx="37490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43A"/>
                </a:solidFill>
              </a:rPr>
              <a:t>Linear SVM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2852928"/>
            <a:ext cx="367588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86"/>
                </a:solidFill>
              </a:rPr>
              <a:t>Average Macro F1 = 0.8200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98448" y="3218688"/>
            <a:ext cx="363931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Best overall predictive performance on high-dimensional TF-IDF features.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46520" y="1444752"/>
            <a:ext cx="32918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interpretable model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6520" y="1956816"/>
            <a:ext cx="44805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48272" y="2331720"/>
            <a:ext cx="3886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43A"/>
                </a:solidFill>
              </a:rPr>
              <a:t>Logistic Regression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84848" y="2852928"/>
            <a:ext cx="380390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86"/>
                </a:solidFill>
              </a:rPr>
              <a:t>Average Macro F1 = 0.7964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84848" y="3218688"/>
            <a:ext cx="380390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Competitive performance with simpler explanation through feature weights.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257860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86"/>
                </a:solidFill>
              </a:rPr>
              <a:t>→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14400" y="4617720"/>
            <a:ext cx="2194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logic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87552" y="5047488"/>
            <a:ext cx="97840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Use Linear SVM as evidence of strongest predictive capability.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Use Logistic Regression as the main final model for interpretation.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• This balances performance, simplicity, reproducibility, and explainability.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9260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future work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Traditional ML works well for Vietnamese ABSA, but ambiguity and imbalance remain open challenges.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85216" y="1024128"/>
            <a:ext cx="10972800" cy="0"/>
          </a:xfrm>
          <a:prstGeom prst="line">
            <a:avLst/>
          </a:prstGeom>
          <a:noFill/>
          <a:ln w="12700">
            <a:solidFill>
              <a:srgbClr val="D3D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1"/>
                </a:solidFill>
              </a:rPr>
              <a:t>ABSA Vietnamese Shopee Reviews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491"/>
                </a:solidFill>
              </a:rPr>
              <a:t>12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49808" y="1335024"/>
            <a:ext cx="22860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9536" y="1773936"/>
            <a:ext cx="507492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Built a complete ABSA pipeline for four aspects of Vietnamese Shopee reviews.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TF-IDF + Logistic Regression achieved competitive and interpretable results.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Linear SVM delivered the best average Macro F1-score at 0.8200.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Error analysis showed that unclear aspect mentions and class imbalance dominate mistakes.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19088" y="1335024"/>
            <a:ext cx="22860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28816" y="1773936"/>
            <a:ext cx="489204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Collect more minority-class samples, especially negative delivery and price reviews.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Refine labeling guidelines for weak expressions such as “ổn” or “tạm được”.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Add aspect detection before sentiment classification.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Test Vietnamese word segmentation and PhoBERT for stronger representations.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444752" y="4754880"/>
            <a:ext cx="9326880" cy="768096"/>
          </a:xfrm>
          <a:prstGeom prst="roundRect">
            <a:avLst>
              <a:gd name="adj" fmla="val 9524"/>
            </a:avLst>
          </a:prstGeom>
          <a:solidFill>
            <a:srgbClr val="16243A"/>
          </a:solidFill>
          <a:ln w="12700">
            <a:solidFill>
              <a:srgbClr val="16243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5010912"/>
            <a:ext cx="870508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Final takeaway: the project demonstrates a clear, reproducible, and interpretable machine learning approach to aspect-level sentiment classification.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ABSA for Vietnamese Shopee Product Reviews</dc:title>
  <dc:subject>Aspect-Based Sentiment Analysis for Vietnamese Shopee Product Reviews</dc:subject>
  <dc:creator>OpenAI</dc:creator>
  <cp:lastModifiedBy>OpenAI</cp:lastModifiedBy>
  <cp:revision>1</cp:revision>
  <dcterms:created xsi:type="dcterms:W3CDTF">2026-05-25T03:08:26Z</dcterms:created>
  <dcterms:modified xsi:type="dcterms:W3CDTF">2026-05-25T03:08:26Z</dcterms:modified>
</cp:coreProperties>
</file>